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oduct concept" id="{7387bd8d-e656-4224-10ec-943658b8897f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Demo" id="{8a51d2b3-918a-7939-de03-eaf355fd5c11}">
          <p14:sldIdLst>
            <p14:sldId id="262"/>
            <p14:sldId id="263"/>
            <p14:sldId id="264"/>
          </p14:sldIdLst>
        </p14:section>
        <p14:section name="Build and business" id="{de3022e8-e121-6d38-3837-b4d321348557}">
          <p14:sldIdLst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yourself: "I am Umer Hassan, and this is TestFlow." TestFlow is a SaaS tool that helps QA teams manage test cases, record test runs and report bugs in one place. I will show the product concept, the landing page and a working prototype, the technologies used and the business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the flow of today's presentation: the problem and product concept, target users and features, a live demo of the landing page and prototype, then design decisions, technologies, the business model and the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pain from a tester's point of view. Test cases are in Excel, results are shared on WhatsApp or Slack, and bugs are reported by email. It is hard to know the real status of a release, and testers waste time on manual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TestFlow brings the whole testing cycle into one tool: write test cases, run them, report bugs from failures, and track release health on the dashboard. This flow is based on my experience as a QA automation engineer.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users: QA engineers, QA leads, and software houses or startups in Pakistan and abroad. Students and freelancers can start on the Free plan, which also helps grow the user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the six core features. All six are implemented in the prototype, so I will show them live in the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index.html live. Show the hero animation, scroll through how it works, features and pricing. Toggle monthly and yearly pricing, open Request a demo and show the form validation. Shrink the browser to show it is responsive.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app.html and click Use demo account (Umer Hassan). Show the dashboard: projects, test cases, pass rate, open bugs and the recent runs chart.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add a test case, then start a test run and mark results. Fail one case and click Report bug: the steps are filled in automatically. Finish the run, change a bug status, and show Reports with release status and CSV export. Finally, Plan and billing: on the Free plan, limits apply.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main design choices: consistent status colors, navigation that follows the QA workflow, simple action-based text, a responsive and accessible interface, validated forms, and a prototype that needs no installation, which makes the live demo reliable.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prototype uses plain HTML, CSS and JavaScript so it runs in any browser, with data in localStorage. In production: React frontend, Node.js API, PostgreSQL with a separate workspace per company (multi-tenant SaaS), Stripe for subscriptions, and cloud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start free or with a 14-day Pro trial, then upgrade. Pricing is per user per month, with 20% off for yearly billing. Revenue comes from Pro and Team subscriptions; the Free plan attracts students and small teams.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Roadmap: automation and CI/CD integration, AI-generated test cases, Jira and Slack integration, and a mobile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the audience and invite questions. Be ready to explain the design choices: status colors, simple navigation, and why the prototype uses localStorage.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A3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91440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063240"/>
            <a:ext cx="7863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E7EBF3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486400"/>
            <a:ext cx="64008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rgbClr val="A3AEC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TestFlow · Umer Hassan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TI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TestFlow · Umer Hassan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A3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Assignment 2: SaaS Landing Page and Prototype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TestFlow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0632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7EBF3"/>
                </a:solidFill>
              </a:rPr>
              <a:t>Test management for QA teams: write tests, run them and track bugs in one place.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486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A3AEC4"/>
                </a:solidFill>
              </a:rPr>
              <a:t>Presented by </a:t>
            </a:r>
            <a:pPr indent="0" marL="0">
              <a:buNone/>
            </a:pPr>
            <a:r>
              <a:rPr lang="en-US" sz="1400" b="1" dirty="0">
                <a:solidFill>
                  <a:srgbClr val="F3F5F8"/>
                </a:solidFill>
              </a:rPr>
              <a:t>Umer Hassan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A3AEC4"/>
                </a:solidFill>
              </a:rPr>
              <a:t>October 2026</a:t>
            </a:r>
            <a:endParaRPr lang="en-US" sz="1400" dirty="0"/>
          </a:p>
        </p:txBody>
      </p:sp>
      <p:sp>
        <p:nvSpPr>
          <p:cNvPr id="6" name="run-cell"/>
          <p:cNvSpPr/>
          <p:nvPr/>
        </p:nvSpPr>
        <p:spPr>
          <a:xfrm>
            <a:off x="7360920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7" name="run-cell"/>
          <p:cNvSpPr/>
          <p:nvPr/>
        </p:nvSpPr>
        <p:spPr>
          <a:xfrm>
            <a:off x="7644384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8" name="run-cell"/>
          <p:cNvSpPr/>
          <p:nvPr/>
        </p:nvSpPr>
        <p:spPr>
          <a:xfrm>
            <a:off x="7927848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9" name="run-cell"/>
          <p:cNvSpPr/>
          <p:nvPr/>
        </p:nvSpPr>
        <p:spPr>
          <a:xfrm>
            <a:off x="8211312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0" name="run-cell"/>
          <p:cNvSpPr/>
          <p:nvPr/>
        </p:nvSpPr>
        <p:spPr>
          <a:xfrm>
            <a:off x="8494776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1" name="run-cell"/>
          <p:cNvSpPr/>
          <p:nvPr/>
        </p:nvSpPr>
        <p:spPr>
          <a:xfrm>
            <a:off x="8778240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2" name="run-cell"/>
          <p:cNvSpPr/>
          <p:nvPr/>
        </p:nvSpPr>
        <p:spPr>
          <a:xfrm>
            <a:off x="9061704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3" name="run-cell"/>
          <p:cNvSpPr/>
          <p:nvPr/>
        </p:nvSpPr>
        <p:spPr>
          <a:xfrm>
            <a:off x="9345168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run-cell"/>
          <p:cNvSpPr/>
          <p:nvPr/>
        </p:nvSpPr>
        <p:spPr>
          <a:xfrm>
            <a:off x="9628632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5" name="run-cell"/>
          <p:cNvSpPr/>
          <p:nvPr/>
        </p:nvSpPr>
        <p:spPr>
          <a:xfrm>
            <a:off x="9912096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6" name="run-cell"/>
          <p:cNvSpPr/>
          <p:nvPr/>
        </p:nvSpPr>
        <p:spPr>
          <a:xfrm>
            <a:off x="10195560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7" name="run-cell"/>
          <p:cNvSpPr/>
          <p:nvPr/>
        </p:nvSpPr>
        <p:spPr>
          <a:xfrm>
            <a:off x="10479024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8" name="run-cell"/>
          <p:cNvSpPr/>
          <p:nvPr/>
        </p:nvSpPr>
        <p:spPr>
          <a:xfrm>
            <a:off x="10762488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9" name="run-cell"/>
          <p:cNvSpPr/>
          <p:nvPr/>
        </p:nvSpPr>
        <p:spPr>
          <a:xfrm>
            <a:off x="11045952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0" name="run-cell"/>
          <p:cNvSpPr/>
          <p:nvPr/>
        </p:nvSpPr>
        <p:spPr>
          <a:xfrm>
            <a:off x="11329416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1" name="run-cell"/>
          <p:cNvSpPr/>
          <p:nvPr/>
        </p:nvSpPr>
        <p:spPr>
          <a:xfrm>
            <a:off x="11612880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2" name="run-cell"/>
          <p:cNvSpPr/>
          <p:nvPr/>
        </p:nvSpPr>
        <p:spPr>
          <a:xfrm>
            <a:off x="7360920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3" name="run-cell"/>
          <p:cNvSpPr/>
          <p:nvPr/>
        </p:nvSpPr>
        <p:spPr>
          <a:xfrm>
            <a:off x="7644384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4" name="run-cell"/>
          <p:cNvSpPr/>
          <p:nvPr/>
        </p:nvSpPr>
        <p:spPr>
          <a:xfrm>
            <a:off x="7927848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5" name="run-cell"/>
          <p:cNvSpPr/>
          <p:nvPr/>
        </p:nvSpPr>
        <p:spPr>
          <a:xfrm>
            <a:off x="8211312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6" name="run-cell"/>
          <p:cNvSpPr/>
          <p:nvPr/>
        </p:nvSpPr>
        <p:spPr>
          <a:xfrm>
            <a:off x="8494776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7" name="run-cell"/>
          <p:cNvSpPr/>
          <p:nvPr/>
        </p:nvSpPr>
        <p:spPr>
          <a:xfrm>
            <a:off x="8778240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28" name="run-cell"/>
          <p:cNvSpPr/>
          <p:nvPr/>
        </p:nvSpPr>
        <p:spPr>
          <a:xfrm>
            <a:off x="9061704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9" name="run-cell"/>
          <p:cNvSpPr/>
          <p:nvPr/>
        </p:nvSpPr>
        <p:spPr>
          <a:xfrm>
            <a:off x="9345168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0" name="run-cell"/>
          <p:cNvSpPr/>
          <p:nvPr/>
        </p:nvSpPr>
        <p:spPr>
          <a:xfrm>
            <a:off x="9628632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1" name="run-cell"/>
          <p:cNvSpPr/>
          <p:nvPr/>
        </p:nvSpPr>
        <p:spPr>
          <a:xfrm>
            <a:off x="9912096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2" name="run-cell"/>
          <p:cNvSpPr/>
          <p:nvPr/>
        </p:nvSpPr>
        <p:spPr>
          <a:xfrm>
            <a:off x="10195560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3" name="run-cell"/>
          <p:cNvSpPr/>
          <p:nvPr/>
        </p:nvSpPr>
        <p:spPr>
          <a:xfrm>
            <a:off x="10479024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4" name="run-cell"/>
          <p:cNvSpPr/>
          <p:nvPr/>
        </p:nvSpPr>
        <p:spPr>
          <a:xfrm>
            <a:off x="10762488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5" name="run-cell"/>
          <p:cNvSpPr/>
          <p:nvPr/>
        </p:nvSpPr>
        <p:spPr>
          <a:xfrm>
            <a:off x="11045952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6" name="run-cell"/>
          <p:cNvSpPr/>
          <p:nvPr/>
        </p:nvSpPr>
        <p:spPr>
          <a:xfrm>
            <a:off x="11329416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7" name="run-cell"/>
          <p:cNvSpPr/>
          <p:nvPr/>
        </p:nvSpPr>
        <p:spPr>
          <a:xfrm>
            <a:off x="11612880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8" name="run-cell"/>
          <p:cNvSpPr/>
          <p:nvPr/>
        </p:nvSpPr>
        <p:spPr>
          <a:xfrm>
            <a:off x="7360920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9" name="run-cell"/>
          <p:cNvSpPr/>
          <p:nvPr/>
        </p:nvSpPr>
        <p:spPr>
          <a:xfrm>
            <a:off x="7644384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0" name="run-cell"/>
          <p:cNvSpPr/>
          <p:nvPr/>
        </p:nvSpPr>
        <p:spPr>
          <a:xfrm>
            <a:off x="7927848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1" name="run-cell"/>
          <p:cNvSpPr/>
          <p:nvPr/>
        </p:nvSpPr>
        <p:spPr>
          <a:xfrm>
            <a:off x="8211312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2" name="run-cell"/>
          <p:cNvSpPr/>
          <p:nvPr/>
        </p:nvSpPr>
        <p:spPr>
          <a:xfrm>
            <a:off x="8494776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3" name="run-cell"/>
          <p:cNvSpPr/>
          <p:nvPr/>
        </p:nvSpPr>
        <p:spPr>
          <a:xfrm>
            <a:off x="8778240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44" name="run-cell"/>
          <p:cNvSpPr/>
          <p:nvPr/>
        </p:nvSpPr>
        <p:spPr>
          <a:xfrm>
            <a:off x="9061704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5" name="run-cell"/>
          <p:cNvSpPr/>
          <p:nvPr/>
        </p:nvSpPr>
        <p:spPr>
          <a:xfrm>
            <a:off x="9345168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6" name="run-cell"/>
          <p:cNvSpPr/>
          <p:nvPr/>
        </p:nvSpPr>
        <p:spPr>
          <a:xfrm>
            <a:off x="9628632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7" name="run-cell"/>
          <p:cNvSpPr/>
          <p:nvPr/>
        </p:nvSpPr>
        <p:spPr>
          <a:xfrm>
            <a:off x="9912096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8" name="run-cell"/>
          <p:cNvSpPr/>
          <p:nvPr/>
        </p:nvSpPr>
        <p:spPr>
          <a:xfrm>
            <a:off x="10195560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9" name="run-cell"/>
          <p:cNvSpPr/>
          <p:nvPr/>
        </p:nvSpPr>
        <p:spPr>
          <a:xfrm>
            <a:off x="10479024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0" name="run-cell"/>
          <p:cNvSpPr/>
          <p:nvPr/>
        </p:nvSpPr>
        <p:spPr>
          <a:xfrm>
            <a:off x="10762488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1" name="run-cell"/>
          <p:cNvSpPr/>
          <p:nvPr/>
        </p:nvSpPr>
        <p:spPr>
          <a:xfrm>
            <a:off x="11045952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2" name="run-cell"/>
          <p:cNvSpPr/>
          <p:nvPr/>
        </p:nvSpPr>
        <p:spPr>
          <a:xfrm>
            <a:off x="11329416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3" name="run-cell"/>
          <p:cNvSpPr/>
          <p:nvPr/>
        </p:nvSpPr>
        <p:spPr>
          <a:xfrm>
            <a:off x="11612880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4" name="run-cell"/>
          <p:cNvSpPr/>
          <p:nvPr/>
        </p:nvSpPr>
        <p:spPr>
          <a:xfrm>
            <a:off x="7360920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5" name="run-cell"/>
          <p:cNvSpPr/>
          <p:nvPr/>
        </p:nvSpPr>
        <p:spPr>
          <a:xfrm>
            <a:off x="7644384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6" name="run-cell"/>
          <p:cNvSpPr/>
          <p:nvPr/>
        </p:nvSpPr>
        <p:spPr>
          <a:xfrm>
            <a:off x="7927848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7" name="run-cell"/>
          <p:cNvSpPr/>
          <p:nvPr/>
        </p:nvSpPr>
        <p:spPr>
          <a:xfrm>
            <a:off x="8211312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8" name="run-cell"/>
          <p:cNvSpPr/>
          <p:nvPr/>
        </p:nvSpPr>
        <p:spPr>
          <a:xfrm>
            <a:off x="8494776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59" name="run-cell"/>
          <p:cNvSpPr/>
          <p:nvPr/>
        </p:nvSpPr>
        <p:spPr>
          <a:xfrm>
            <a:off x="8778240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0" name="run-cell"/>
          <p:cNvSpPr/>
          <p:nvPr/>
        </p:nvSpPr>
        <p:spPr>
          <a:xfrm>
            <a:off x="9061704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1" name="run-cell"/>
          <p:cNvSpPr/>
          <p:nvPr/>
        </p:nvSpPr>
        <p:spPr>
          <a:xfrm>
            <a:off x="9345168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2" name="run-cell"/>
          <p:cNvSpPr/>
          <p:nvPr/>
        </p:nvSpPr>
        <p:spPr>
          <a:xfrm>
            <a:off x="9628632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3" name="run-cell"/>
          <p:cNvSpPr/>
          <p:nvPr/>
        </p:nvSpPr>
        <p:spPr>
          <a:xfrm>
            <a:off x="9912096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4" name="run-cell"/>
          <p:cNvSpPr/>
          <p:nvPr/>
        </p:nvSpPr>
        <p:spPr>
          <a:xfrm>
            <a:off x="10195560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65" name="run-cell"/>
          <p:cNvSpPr/>
          <p:nvPr/>
        </p:nvSpPr>
        <p:spPr>
          <a:xfrm>
            <a:off x="10479024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6" name="run-cell"/>
          <p:cNvSpPr/>
          <p:nvPr/>
        </p:nvSpPr>
        <p:spPr>
          <a:xfrm>
            <a:off x="10762488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7" name="run-cell"/>
          <p:cNvSpPr/>
          <p:nvPr/>
        </p:nvSpPr>
        <p:spPr>
          <a:xfrm>
            <a:off x="11045952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8" name="run-cell"/>
          <p:cNvSpPr/>
          <p:nvPr/>
        </p:nvSpPr>
        <p:spPr>
          <a:xfrm>
            <a:off x="11329416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9" name="run-cell"/>
          <p:cNvSpPr/>
          <p:nvPr/>
        </p:nvSpPr>
        <p:spPr>
          <a:xfrm>
            <a:off x="11612880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Agenda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1463040" y="1600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Problem and product concept</a:t>
            </a:r>
            <a:endParaRPr lang="en-US" sz="2200" dirty="0"/>
          </a:p>
        </p:txBody>
      </p:sp>
      <p:sp>
        <p:nvSpPr>
          <p:cNvPr id="5" name="divider"/>
          <p:cNvSpPr/>
          <p:nvPr/>
        </p:nvSpPr>
        <p:spPr>
          <a:xfrm>
            <a:off x="548640" y="2468880"/>
            <a:ext cx="53035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926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2926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Target users and key features</a:t>
            </a:r>
            <a:endParaRPr lang="en-US" sz="2200" dirty="0"/>
          </a:p>
        </p:txBody>
      </p:sp>
      <p:sp>
        <p:nvSpPr>
          <p:cNvPr id="8" name="divider"/>
          <p:cNvSpPr/>
          <p:nvPr/>
        </p:nvSpPr>
        <p:spPr>
          <a:xfrm>
            <a:off x="548640" y="3794760"/>
            <a:ext cx="53035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251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4251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Landing page</a:t>
            </a:r>
            <a:endParaRPr lang="en-US" sz="2200" dirty="0"/>
          </a:p>
        </p:txBody>
      </p:sp>
      <p:sp>
        <p:nvSpPr>
          <p:cNvPr id="11" name="divider"/>
          <p:cNvSpPr/>
          <p:nvPr/>
        </p:nvSpPr>
        <p:spPr>
          <a:xfrm>
            <a:off x="548640" y="5120640"/>
            <a:ext cx="53035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6002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600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Prototype and live demo</a:t>
            </a:r>
            <a:endParaRPr lang="en-US" sz="2200" dirty="0"/>
          </a:p>
        </p:txBody>
      </p:sp>
      <p:sp>
        <p:nvSpPr>
          <p:cNvPr id="14" name="divider"/>
          <p:cNvSpPr/>
          <p:nvPr/>
        </p:nvSpPr>
        <p:spPr>
          <a:xfrm>
            <a:off x="6217920" y="2468880"/>
            <a:ext cx="53035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0" y="29260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9260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Design decisions and technologies</a:t>
            </a:r>
            <a:endParaRPr lang="en-US" sz="2200" dirty="0"/>
          </a:p>
        </p:txBody>
      </p:sp>
      <p:sp>
        <p:nvSpPr>
          <p:cNvPr id="17" name="divider"/>
          <p:cNvSpPr/>
          <p:nvPr/>
        </p:nvSpPr>
        <p:spPr>
          <a:xfrm>
            <a:off x="6217920" y="3794760"/>
            <a:ext cx="53035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17920" y="425196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2519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Business model and roadmap</a:t>
            </a:r>
            <a:endParaRPr lang="en-US" sz="2200" dirty="0"/>
          </a:p>
        </p:txBody>
      </p:sp>
      <p:sp>
        <p:nvSpPr>
          <p:cNvPr id="20" name="divider"/>
          <p:cNvSpPr/>
          <p:nvPr/>
        </p:nvSpPr>
        <p:spPr>
          <a:xfrm>
            <a:off x="6217920" y="5120640"/>
            <a:ext cx="5303520" cy="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problem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5087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tatus-chip"/>
          <p:cNvSpPr/>
          <p:nvPr/>
        </p:nvSpPr>
        <p:spPr>
          <a:xfrm>
            <a:off x="822960" y="180136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Scattered tools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Test cases live in spreadsheets, results in chats and bugs in emails.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15968" y="15087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atus-chip"/>
          <p:cNvSpPr/>
          <p:nvPr/>
        </p:nvSpPr>
        <p:spPr>
          <a:xfrm>
            <a:off x="4590288" y="180136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0288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 clear status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6517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Managers can't see what passed, what failed or whether a release is ready.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83296" y="1508760"/>
            <a:ext cx="3520440" cy="2377440"/>
          </a:xfrm>
          <a:prstGeom prst="roundRect">
            <a:avLst>
              <a:gd name="adj" fmla="val 4615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tatus-chip"/>
          <p:cNvSpPr/>
          <p:nvPr/>
        </p:nvSpPr>
        <p:spPr>
          <a:xfrm>
            <a:off x="8357616" y="180136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7616" y="21945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Slow reporting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651760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Testers spend hours copying steps into bug reports and status updates.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434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Small and mid-sized software teams need one simple, affordable place to manage testing.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The solution: TestFlow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A cloud-based SaaS tool that follows the way QA teams already work, from writing a test case to closing a bug.</a:t>
            </a:r>
            <a:endParaRPr lang="en-US" sz="2000" dirty="0"/>
          </a:p>
        </p:txBody>
      </p:sp>
      <p:sp>
        <p:nvSpPr>
          <p:cNvPr id="4" name="step-card"/>
          <p:cNvSpPr/>
          <p:nvPr/>
        </p:nvSpPr>
        <p:spPr>
          <a:xfrm>
            <a:off x="548640" y="2514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2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Write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Test cases with steps and expected results</a:t>
            </a:r>
            <a:endParaRPr lang="en-US" sz="1400" dirty="0"/>
          </a:p>
        </p:txBody>
      </p:sp>
      <p:sp>
        <p:nvSpPr>
          <p:cNvPr id="8" name="arrow"/>
          <p:cNvSpPr/>
          <p:nvPr/>
        </p:nvSpPr>
        <p:spPr>
          <a:xfrm>
            <a:off x="3154680" y="3703320"/>
            <a:ext cx="182880" cy="274320"/>
          </a:xfrm>
          <a:prstGeom prst="rtTriangle">
            <a:avLst/>
          </a:prstGeom>
          <a:solidFill>
            <a:schemeClr val="accent6"/>
          </a:solidFill>
          <a:ln/>
        </p:spPr>
      </p:sp>
      <p:sp>
        <p:nvSpPr>
          <p:cNvPr id="9" name="step-card"/>
          <p:cNvSpPr/>
          <p:nvPr/>
        </p:nvSpPr>
        <p:spPr>
          <a:xfrm>
            <a:off x="3383280" y="2514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65760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Run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39776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Mark each case passed, failed or blocked</a:t>
            </a:r>
            <a:endParaRPr lang="en-US" sz="1400" dirty="0"/>
          </a:p>
        </p:txBody>
      </p:sp>
      <p:sp>
        <p:nvSpPr>
          <p:cNvPr id="13" name="arrow"/>
          <p:cNvSpPr/>
          <p:nvPr/>
        </p:nvSpPr>
        <p:spPr>
          <a:xfrm>
            <a:off x="5989320" y="3703320"/>
            <a:ext cx="182880" cy="274320"/>
          </a:xfrm>
          <a:prstGeom prst="rtTriangle">
            <a:avLst/>
          </a:prstGeom>
          <a:solidFill>
            <a:schemeClr val="accent6"/>
          </a:solidFill>
          <a:ln/>
        </p:spPr>
      </p:sp>
      <p:sp>
        <p:nvSpPr>
          <p:cNvPr id="14" name="step-card"/>
          <p:cNvSpPr/>
          <p:nvPr/>
        </p:nvSpPr>
        <p:spPr>
          <a:xfrm>
            <a:off x="6217920" y="2514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2800" dirty="0"/>
          </a:p>
        </p:txBody>
      </p:sp>
      <p:sp>
        <p:nvSpPr>
          <p:cNvPr id="16" name="Text 14"/>
          <p:cNvSpPr txBox="1"/>
          <p:nvPr/>
        </p:nvSpPr>
        <p:spPr>
          <a:xfrm>
            <a:off x="649224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Report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6492240" y="39776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Turn a failed case into a bug in one click</a:t>
            </a:r>
            <a:endParaRPr lang="en-US" sz="1400" dirty="0"/>
          </a:p>
        </p:txBody>
      </p:sp>
      <p:sp>
        <p:nvSpPr>
          <p:cNvPr id="18" name="arrow"/>
          <p:cNvSpPr/>
          <p:nvPr/>
        </p:nvSpPr>
        <p:spPr>
          <a:xfrm>
            <a:off x="8823960" y="3703320"/>
            <a:ext cx="182880" cy="274320"/>
          </a:xfrm>
          <a:prstGeom prst="rtTriangle">
            <a:avLst/>
          </a:prstGeom>
          <a:solidFill>
            <a:schemeClr val="accent6"/>
          </a:solidFill>
          <a:ln/>
        </p:spPr>
      </p:sp>
      <p:sp>
        <p:nvSpPr>
          <p:cNvPr id="19" name="step-card"/>
          <p:cNvSpPr/>
          <p:nvPr/>
        </p:nvSpPr>
        <p:spPr>
          <a:xfrm>
            <a:off x="9052560" y="2514600"/>
            <a:ext cx="2560320" cy="265176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32688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28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Track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977640"/>
            <a:ext cx="2057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See pass rate, open bugs and release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Target users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5486400"/>
                <a:gridCol w="23134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User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they need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Plan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QA engineers and testers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Write and run test cases, report bugs quickly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Pro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QA leads and managers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See pass rates and decide if a release is ready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Pro / Team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Software houses and startups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One affordable tool for the whole team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Team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Students and freelance testers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Practice and manage small projects for free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Free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Key features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tatus-chip"/>
          <p:cNvSpPr/>
          <p:nvPr/>
        </p:nvSpPr>
        <p:spPr>
          <a:xfrm>
            <a:off x="822960" y="16642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case management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Steps, expected results, modules and priority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15968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atus-chip"/>
          <p:cNvSpPr/>
          <p:nvPr/>
        </p:nvSpPr>
        <p:spPr>
          <a:xfrm>
            <a:off x="4590288" y="16642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0288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Test runs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514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Pass, fail or block each case with live progress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83296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tatus-chip"/>
          <p:cNvSpPr/>
          <p:nvPr/>
        </p:nvSpPr>
        <p:spPr>
          <a:xfrm>
            <a:off x="8357616" y="16642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7616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Bug reporting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514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Bugs created from failed cases, with severity and status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tatus-chip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Dashboard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Pass rate, open bugs and recent runs at a glance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315968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tatus-chip"/>
          <p:cNvSpPr/>
          <p:nvPr/>
        </p:nvSpPr>
        <p:spPr>
          <a:xfrm>
            <a:off x="4590288" y="40416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0288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Reports and export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4892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Release status per project and CSV export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8083296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status-chip"/>
          <p:cNvSpPr/>
          <p:nvPr/>
        </p:nvSpPr>
        <p:spPr>
          <a:xfrm>
            <a:off x="8357616" y="40416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57616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Plans and billing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4892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Free, Pro and Team plans with plan limits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Landing page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40233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Hero with a live test-run animation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Four-step workflow and six features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Pricing with monthly and yearly toggle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Start free trial, Sign up, Request a demo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Demo form with validation and FAQ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Responsive, with light and dark mode</a:t>
            </a:r>
            <a:endParaRPr lang="en-US" sz="1600" dirty="0"/>
          </a:p>
        </p:txBody>
      </p:sp>
      <p:pic>
        <p:nvPicPr>
          <p:cNvPr id="4" name="Image 0" descr="TestFlow landing page hero with a test run gri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839712" cy="42748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Prototype</a:t>
            </a:r>
            <a:endParaRPr lang="en-US" sz="3400" dirty="0"/>
          </a:p>
        </p:txBody>
      </p:sp>
      <p:pic>
        <p:nvPicPr>
          <p:cNvPr id="3" name="Image 0" descr="TestFlow dashboard with pass rate, open bugs and recent runs cha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6839712" cy="42748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680960" y="1463040"/>
            <a:ext cx="393192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Sign up, log in and demo account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Dashboard with live stats and chart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Projects and test cases (add, edit, delete)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Test runs and bug reports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Reports and plan switching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Core workflow demo</a:t>
            </a:r>
            <a:endParaRPr lang="en-US" sz="3400" dirty="0"/>
          </a:p>
        </p:txBody>
      </p:sp>
      <p:sp>
        <p:nvSpPr>
          <p:cNvPr id="3" name="step-dot"/>
          <p:cNvSpPr/>
          <p:nvPr/>
        </p:nvSpPr>
        <p:spPr>
          <a:xfrm>
            <a:off x="548640" y="15087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188720" y="1508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 a new test case</a:t>
            </a:r>
            <a:endParaRPr lang="en-US" sz="1600" dirty="0"/>
          </a:p>
        </p:txBody>
      </p:sp>
      <p:sp>
        <p:nvSpPr>
          <p:cNvPr id="6" name="step-dot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88720" y="2331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Start a test run</a:t>
            </a:r>
            <a:endParaRPr lang="en-US" sz="1600" dirty="0"/>
          </a:p>
        </p:txBody>
      </p:sp>
      <p:sp>
        <p:nvSpPr>
          <p:cNvPr id="9" name="step-dot"/>
          <p:cNvSpPr/>
          <p:nvPr/>
        </p:nvSpPr>
        <p:spPr>
          <a:xfrm>
            <a:off x="548640" y="31546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154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Mark cases pass, fail or blocked</a:t>
            </a:r>
            <a:endParaRPr lang="en-US" sz="1600" dirty="0"/>
          </a:p>
        </p:txBody>
      </p:sp>
      <p:sp>
        <p:nvSpPr>
          <p:cNvPr id="12" name="step-dot"/>
          <p:cNvSpPr/>
          <p:nvPr/>
        </p:nvSpPr>
        <p:spPr>
          <a:xfrm>
            <a:off x="548640" y="39776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9776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Report a bug from a failed case</a:t>
            </a:r>
            <a:endParaRPr lang="en-US" sz="1600" dirty="0"/>
          </a:p>
        </p:txBody>
      </p:sp>
      <p:sp>
        <p:nvSpPr>
          <p:cNvPr id="15" name="step-dot"/>
          <p:cNvSpPr/>
          <p:nvPr/>
        </p:nvSpPr>
        <p:spPr>
          <a:xfrm>
            <a:off x="54864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800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Finish the run and check reports</a:t>
            </a:r>
            <a:endParaRPr lang="en-US" sz="1600" dirty="0"/>
          </a:p>
        </p:txBody>
      </p:sp>
      <p:pic>
        <p:nvPicPr>
          <p:cNvPr id="18" name="Image 0" descr="TestFlow test run screen with pass, fail and blocked resul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0" y="1417320"/>
            <a:ext cx="6839712" cy="42748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Design decisions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tatus-chip"/>
          <p:cNvSpPr/>
          <p:nvPr/>
        </p:nvSpPr>
        <p:spPr>
          <a:xfrm>
            <a:off x="822960" y="16642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Colors with meaning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Green for passed, red for failed, amber for blocked, used the same way everywhere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315968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atus-chip"/>
          <p:cNvSpPr/>
          <p:nvPr/>
        </p:nvSpPr>
        <p:spPr>
          <a:xfrm>
            <a:off x="4590288" y="16642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90288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Familiar workflow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514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Screens follow the real QA cycle: write, run, report, track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8083296" y="137160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tatus-chip"/>
          <p:cNvSpPr/>
          <p:nvPr/>
        </p:nvSpPr>
        <p:spPr>
          <a:xfrm>
            <a:off x="8357616" y="16642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357616" y="205740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Plain language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51460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Buttons say exactly what they do, and errors explain how to fix them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tatus-chip"/>
          <p:cNvSpPr/>
          <p:nvPr/>
        </p:nvSpPr>
        <p:spPr>
          <a:xfrm>
            <a:off x="822960" y="40416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Responsive and accessible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892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Mobile and desktop, dark mode, keyboard focus and good contrast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4315968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0" name="status-chip"/>
          <p:cNvSpPr/>
          <p:nvPr/>
        </p:nvSpPr>
        <p:spPr>
          <a:xfrm>
            <a:off x="4590288" y="40416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90288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Built-in validation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4590288" y="4892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Required fields, email format and plan limits are checked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8083296" y="3749040"/>
            <a:ext cx="3520440" cy="2148840"/>
          </a:xfrm>
          <a:prstGeom prst="roundRect">
            <a:avLst>
              <a:gd name="adj" fmla="val 510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24" name="status-chip"/>
          <p:cNvSpPr/>
          <p:nvPr/>
        </p:nvSpPr>
        <p:spPr>
          <a:xfrm>
            <a:off x="8357616" y="404164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57616" y="443484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No-setup prototype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357616" y="489204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Runs in any browser and saves data locally for the demo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Technologies used</a:t>
            </a:r>
            <a:endParaRPr lang="en-US" sz="3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931920"/>
                <a:gridCol w="450799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Prototype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Proposed production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Frontend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HTML5, CSS3, JavaScript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React + Tailwind CSS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Backend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Simulated in the browser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Node.js + Express REST API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Data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Browser localStorage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PostgreSQL, one workspace per company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Auth and payments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Mock login and plan switch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JWT authentication, Stripe subscriptions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Hosting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Static files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7233B"/>
                          </a:solidFill>
                        </a:rPr>
                        <a:t>AWS or Vercel with a CI/CD pipeline</a:t>
                      </a:r>
                      <a:endParaRPr lang="en-US" sz="1600" dirty="0"/>
                    </a:p>
                  </a:txBody>
                  <a:tcPr marL="137160" marR="137160" marT="0" marB="0" anchor="ctr">
                    <a:lnL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Business model: freemium subscription</a:t>
            </a:r>
            <a:endParaRPr lang="en-US" sz="3400" dirty="0"/>
          </a:p>
        </p:txBody>
      </p:sp>
      <p:sp>
        <p:nvSpPr>
          <p:cNvPr id="3" name="plan-card"/>
          <p:cNvSpPr/>
          <p:nvPr/>
        </p:nvSpPr>
        <p:spPr>
          <a:xfrm>
            <a:off x="548640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783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Free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331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$0</a:t>
            </a:r>
            <a:pPr indent="0" marL="0">
              <a:buNone/>
            </a:pP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2918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1 project, 2 users, 100 test cases</a:t>
            </a:r>
            <a:endParaRPr lang="en-US" sz="1400" dirty="0"/>
          </a:p>
        </p:txBody>
      </p:sp>
      <p:sp>
        <p:nvSpPr>
          <p:cNvPr id="7" name="plan-card"/>
          <p:cNvSpPr/>
          <p:nvPr/>
        </p:nvSpPr>
        <p:spPr>
          <a:xfrm>
            <a:off x="4315968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tx1"/>
          </a:solidFill>
          <a:ln w="9525">
            <a:solidFill>
              <a:schemeClr val="tx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36008" y="1783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Pro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2331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$15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/ user / month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32918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9DEE7"/>
                </a:solidFill>
              </a:rPr>
              <a:t>Unlimited projects, reports, export, automation import</a:t>
            </a:r>
            <a:endParaRPr lang="en-US" sz="1400" dirty="0"/>
          </a:p>
        </p:txBody>
      </p:sp>
      <p:sp>
        <p:nvSpPr>
          <p:cNvPr id="11" name="plan-card"/>
          <p:cNvSpPr/>
          <p:nvPr/>
        </p:nvSpPr>
        <p:spPr>
          <a:xfrm>
            <a:off x="8083296" y="1463040"/>
            <a:ext cx="352044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03336" y="17830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Team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403336" y="2331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tx1"/>
                </a:solidFill>
              </a:rPr>
              <a:t>$39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 / user / month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3291840"/>
            <a:ext cx="2880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Integrations, roles and priority support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463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14-day Pro trial and 20% off yearly plans. Revenue grows with team size because pricing is per user.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1"/>
                </a:solidFill>
              </a:rPr>
              <a:t>Future enhancements</a:t>
            </a:r>
            <a:endParaRPr lang="en-US" sz="3400" dirty="0"/>
          </a:p>
        </p:txBody>
      </p:sp>
      <p:sp>
        <p:nvSpPr>
          <p:cNvPr id="3" name="card"/>
          <p:cNvSpPr/>
          <p:nvPr/>
        </p:nvSpPr>
        <p:spPr>
          <a:xfrm>
            <a:off x="54864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4" name="status-chip"/>
          <p:cNvSpPr/>
          <p:nvPr/>
        </p:nvSpPr>
        <p:spPr>
          <a:xfrm>
            <a:off x="822960" y="16642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CI/CD integration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Import Selenium, Playwright and Cypress results automatically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6217920" y="137160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8" name="status-chip"/>
          <p:cNvSpPr/>
          <p:nvPr/>
        </p:nvSpPr>
        <p:spPr>
          <a:xfrm>
            <a:off x="6492240" y="166420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92240" y="20574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AI test case suggestions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51460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Generate test cases from requirements or user stories</a:t>
            </a:r>
            <a:endParaRPr lang="en-US" sz="1400" dirty="0"/>
          </a:p>
        </p:txBody>
      </p:sp>
      <p:sp>
        <p:nvSpPr>
          <p:cNvPr id="11" name="card"/>
          <p:cNvSpPr/>
          <p:nvPr/>
        </p:nvSpPr>
        <p:spPr>
          <a:xfrm>
            <a:off x="548640" y="37033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2" name="status-chip"/>
          <p:cNvSpPr/>
          <p:nvPr/>
        </p:nvSpPr>
        <p:spPr>
          <a:xfrm>
            <a:off x="822960" y="399592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Jira and Slack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846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Sync bugs to Jira and send run results to Slack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217920" y="3703320"/>
            <a:ext cx="5394960" cy="2103120"/>
          </a:xfrm>
          <a:prstGeom prst="roundRect">
            <a:avLst>
              <a:gd name="adj" fmla="val 5217"/>
            </a:avLst>
          </a:prstGeom>
          <a:solidFill>
            <a:schemeClr val="bg1"/>
          </a:solidFill>
          <a:ln w="9525">
            <a:solidFill>
              <a:schemeClr val="accent6"/>
            </a:solidFill>
            <a:prstDash val="solid"/>
          </a:ln>
        </p:spPr>
      </p:sp>
      <p:sp>
        <p:nvSpPr>
          <p:cNvPr id="16" name="status-chip"/>
          <p:cNvSpPr/>
          <p:nvPr/>
        </p:nvSpPr>
        <p:spPr>
          <a:xfrm>
            <a:off x="6492240" y="3995928"/>
            <a:ext cx="256032" cy="256032"/>
          </a:xfrm>
          <a:prstGeom prst="roundRect">
            <a:avLst>
              <a:gd name="adj" fmla="val 17857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92240" y="43891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Mobile app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92240" y="48463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chemeClr val="accent5"/>
                </a:solidFill>
              </a:rPr>
              <a:t>Record test results on the go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28655" y="6355080"/>
            <a:ext cx="9144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rgbClr val="A3AE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TestFlow</a:t>
            </a: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8288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</a:t>
            </a:r>
            <a:endParaRPr lang="en-US" sz="6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30632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E7EBF3"/>
                </a:solidFill>
              </a:rPr>
              <a:t>Questions and feedback are welcome.</a:t>
            </a:r>
            <a:endParaRPr lang="en-US" sz="22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548640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A3AEC4"/>
                </a:solidFill>
              </a:rPr>
              <a:t>Designed and developed by Umer Hassan</a:t>
            </a:r>
            <a:endParaRPr lang="en-US" sz="1400" dirty="0"/>
          </a:p>
        </p:txBody>
      </p:sp>
      <p:sp>
        <p:nvSpPr>
          <p:cNvPr id="6" name="run-cell"/>
          <p:cNvSpPr/>
          <p:nvPr/>
        </p:nvSpPr>
        <p:spPr>
          <a:xfrm>
            <a:off x="7360920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7" name="run-cell"/>
          <p:cNvSpPr/>
          <p:nvPr/>
        </p:nvSpPr>
        <p:spPr>
          <a:xfrm>
            <a:off x="7644384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8" name="run-cell"/>
          <p:cNvSpPr/>
          <p:nvPr/>
        </p:nvSpPr>
        <p:spPr>
          <a:xfrm>
            <a:off x="7927848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9" name="run-cell"/>
          <p:cNvSpPr/>
          <p:nvPr/>
        </p:nvSpPr>
        <p:spPr>
          <a:xfrm>
            <a:off x="8211312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0" name="run-cell"/>
          <p:cNvSpPr/>
          <p:nvPr/>
        </p:nvSpPr>
        <p:spPr>
          <a:xfrm>
            <a:off x="8494776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1" name="run-cell"/>
          <p:cNvSpPr/>
          <p:nvPr/>
        </p:nvSpPr>
        <p:spPr>
          <a:xfrm>
            <a:off x="8778240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2" name="run-cell"/>
          <p:cNvSpPr/>
          <p:nvPr/>
        </p:nvSpPr>
        <p:spPr>
          <a:xfrm>
            <a:off x="9061704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3" name="run-cell"/>
          <p:cNvSpPr/>
          <p:nvPr/>
        </p:nvSpPr>
        <p:spPr>
          <a:xfrm>
            <a:off x="9345168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4" name="run-cell"/>
          <p:cNvSpPr/>
          <p:nvPr/>
        </p:nvSpPr>
        <p:spPr>
          <a:xfrm>
            <a:off x="9628632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5" name="run-cell"/>
          <p:cNvSpPr/>
          <p:nvPr/>
        </p:nvSpPr>
        <p:spPr>
          <a:xfrm>
            <a:off x="9912096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6" name="run-cell"/>
          <p:cNvSpPr/>
          <p:nvPr/>
        </p:nvSpPr>
        <p:spPr>
          <a:xfrm>
            <a:off x="10195560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7" name="run-cell"/>
          <p:cNvSpPr/>
          <p:nvPr/>
        </p:nvSpPr>
        <p:spPr>
          <a:xfrm>
            <a:off x="10479024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8" name="run-cell"/>
          <p:cNvSpPr/>
          <p:nvPr/>
        </p:nvSpPr>
        <p:spPr>
          <a:xfrm>
            <a:off x="10762488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19" name="run-cell"/>
          <p:cNvSpPr/>
          <p:nvPr/>
        </p:nvSpPr>
        <p:spPr>
          <a:xfrm>
            <a:off x="11045952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0" name="run-cell"/>
          <p:cNvSpPr/>
          <p:nvPr/>
        </p:nvSpPr>
        <p:spPr>
          <a:xfrm>
            <a:off x="11329416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1" name="run-cell"/>
          <p:cNvSpPr/>
          <p:nvPr/>
        </p:nvSpPr>
        <p:spPr>
          <a:xfrm>
            <a:off x="11612880" y="5257800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2" name="run-cell"/>
          <p:cNvSpPr/>
          <p:nvPr/>
        </p:nvSpPr>
        <p:spPr>
          <a:xfrm>
            <a:off x="7360920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3" name="run-cell"/>
          <p:cNvSpPr/>
          <p:nvPr/>
        </p:nvSpPr>
        <p:spPr>
          <a:xfrm>
            <a:off x="7644384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4" name="run-cell"/>
          <p:cNvSpPr/>
          <p:nvPr/>
        </p:nvSpPr>
        <p:spPr>
          <a:xfrm>
            <a:off x="7927848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5" name="run-cell"/>
          <p:cNvSpPr/>
          <p:nvPr/>
        </p:nvSpPr>
        <p:spPr>
          <a:xfrm>
            <a:off x="8211312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6" name="run-cell"/>
          <p:cNvSpPr/>
          <p:nvPr/>
        </p:nvSpPr>
        <p:spPr>
          <a:xfrm>
            <a:off x="8494776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7" name="run-cell"/>
          <p:cNvSpPr/>
          <p:nvPr/>
        </p:nvSpPr>
        <p:spPr>
          <a:xfrm>
            <a:off x="8778240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28" name="run-cell"/>
          <p:cNvSpPr/>
          <p:nvPr/>
        </p:nvSpPr>
        <p:spPr>
          <a:xfrm>
            <a:off x="9061704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29" name="run-cell"/>
          <p:cNvSpPr/>
          <p:nvPr/>
        </p:nvSpPr>
        <p:spPr>
          <a:xfrm>
            <a:off x="9345168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0" name="run-cell"/>
          <p:cNvSpPr/>
          <p:nvPr/>
        </p:nvSpPr>
        <p:spPr>
          <a:xfrm>
            <a:off x="9628632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1" name="run-cell"/>
          <p:cNvSpPr/>
          <p:nvPr/>
        </p:nvSpPr>
        <p:spPr>
          <a:xfrm>
            <a:off x="9912096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2" name="run-cell"/>
          <p:cNvSpPr/>
          <p:nvPr/>
        </p:nvSpPr>
        <p:spPr>
          <a:xfrm>
            <a:off x="10195560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3" name="run-cell"/>
          <p:cNvSpPr/>
          <p:nvPr/>
        </p:nvSpPr>
        <p:spPr>
          <a:xfrm>
            <a:off x="10479024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4" name="run-cell"/>
          <p:cNvSpPr/>
          <p:nvPr/>
        </p:nvSpPr>
        <p:spPr>
          <a:xfrm>
            <a:off x="10762488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5" name="run-cell"/>
          <p:cNvSpPr/>
          <p:nvPr/>
        </p:nvSpPr>
        <p:spPr>
          <a:xfrm>
            <a:off x="11045952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6" name="run-cell"/>
          <p:cNvSpPr/>
          <p:nvPr/>
        </p:nvSpPr>
        <p:spPr>
          <a:xfrm>
            <a:off x="11329416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7" name="run-cell"/>
          <p:cNvSpPr/>
          <p:nvPr/>
        </p:nvSpPr>
        <p:spPr>
          <a:xfrm>
            <a:off x="11612880" y="5541264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8" name="run-cell"/>
          <p:cNvSpPr/>
          <p:nvPr/>
        </p:nvSpPr>
        <p:spPr>
          <a:xfrm>
            <a:off x="7360920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39" name="run-cell"/>
          <p:cNvSpPr/>
          <p:nvPr/>
        </p:nvSpPr>
        <p:spPr>
          <a:xfrm>
            <a:off x="7644384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0" name="run-cell"/>
          <p:cNvSpPr/>
          <p:nvPr/>
        </p:nvSpPr>
        <p:spPr>
          <a:xfrm>
            <a:off x="7927848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1" name="run-cell"/>
          <p:cNvSpPr/>
          <p:nvPr/>
        </p:nvSpPr>
        <p:spPr>
          <a:xfrm>
            <a:off x="8211312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2" name="run-cell"/>
          <p:cNvSpPr/>
          <p:nvPr/>
        </p:nvSpPr>
        <p:spPr>
          <a:xfrm>
            <a:off x="8494776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3" name="run-cell"/>
          <p:cNvSpPr/>
          <p:nvPr/>
        </p:nvSpPr>
        <p:spPr>
          <a:xfrm>
            <a:off x="8778240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</p:sp>
      <p:sp>
        <p:nvSpPr>
          <p:cNvPr id="44" name="run-cell"/>
          <p:cNvSpPr/>
          <p:nvPr/>
        </p:nvSpPr>
        <p:spPr>
          <a:xfrm>
            <a:off x="9061704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5" name="run-cell"/>
          <p:cNvSpPr/>
          <p:nvPr/>
        </p:nvSpPr>
        <p:spPr>
          <a:xfrm>
            <a:off x="9345168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6" name="run-cell"/>
          <p:cNvSpPr/>
          <p:nvPr/>
        </p:nvSpPr>
        <p:spPr>
          <a:xfrm>
            <a:off x="9628632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7" name="run-cell"/>
          <p:cNvSpPr/>
          <p:nvPr/>
        </p:nvSpPr>
        <p:spPr>
          <a:xfrm>
            <a:off x="9912096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8" name="run-cell"/>
          <p:cNvSpPr/>
          <p:nvPr/>
        </p:nvSpPr>
        <p:spPr>
          <a:xfrm>
            <a:off x="10195560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49" name="run-cell"/>
          <p:cNvSpPr/>
          <p:nvPr/>
        </p:nvSpPr>
        <p:spPr>
          <a:xfrm>
            <a:off x="10479024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0" name="run-cell"/>
          <p:cNvSpPr/>
          <p:nvPr/>
        </p:nvSpPr>
        <p:spPr>
          <a:xfrm>
            <a:off x="10762488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1" name="run-cell"/>
          <p:cNvSpPr/>
          <p:nvPr/>
        </p:nvSpPr>
        <p:spPr>
          <a:xfrm>
            <a:off x="11045952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2" name="run-cell"/>
          <p:cNvSpPr/>
          <p:nvPr/>
        </p:nvSpPr>
        <p:spPr>
          <a:xfrm>
            <a:off x="11329416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3" name="run-cell"/>
          <p:cNvSpPr/>
          <p:nvPr/>
        </p:nvSpPr>
        <p:spPr>
          <a:xfrm>
            <a:off x="11612880" y="5824728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4" name="run-cell"/>
          <p:cNvSpPr/>
          <p:nvPr/>
        </p:nvSpPr>
        <p:spPr>
          <a:xfrm>
            <a:off x="7360920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5" name="run-cell"/>
          <p:cNvSpPr/>
          <p:nvPr/>
        </p:nvSpPr>
        <p:spPr>
          <a:xfrm>
            <a:off x="7644384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6" name="run-cell"/>
          <p:cNvSpPr/>
          <p:nvPr/>
        </p:nvSpPr>
        <p:spPr>
          <a:xfrm>
            <a:off x="7927848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7" name="run-cell"/>
          <p:cNvSpPr/>
          <p:nvPr/>
        </p:nvSpPr>
        <p:spPr>
          <a:xfrm>
            <a:off x="8211312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58" name="run-cell"/>
          <p:cNvSpPr/>
          <p:nvPr/>
        </p:nvSpPr>
        <p:spPr>
          <a:xfrm>
            <a:off x="8494776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59" name="run-cell"/>
          <p:cNvSpPr/>
          <p:nvPr/>
        </p:nvSpPr>
        <p:spPr>
          <a:xfrm>
            <a:off x="8778240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0" name="run-cell"/>
          <p:cNvSpPr/>
          <p:nvPr/>
        </p:nvSpPr>
        <p:spPr>
          <a:xfrm>
            <a:off x="9061704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1" name="run-cell"/>
          <p:cNvSpPr/>
          <p:nvPr/>
        </p:nvSpPr>
        <p:spPr>
          <a:xfrm>
            <a:off x="9345168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2" name="run-cell"/>
          <p:cNvSpPr/>
          <p:nvPr/>
        </p:nvSpPr>
        <p:spPr>
          <a:xfrm>
            <a:off x="9628632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3" name="run-cell"/>
          <p:cNvSpPr/>
          <p:nvPr/>
        </p:nvSpPr>
        <p:spPr>
          <a:xfrm>
            <a:off x="9912096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4" name="run-cell"/>
          <p:cNvSpPr/>
          <p:nvPr/>
        </p:nvSpPr>
        <p:spPr>
          <a:xfrm>
            <a:off x="10195560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</p:sp>
      <p:sp>
        <p:nvSpPr>
          <p:cNvPr id="65" name="run-cell"/>
          <p:cNvSpPr/>
          <p:nvPr/>
        </p:nvSpPr>
        <p:spPr>
          <a:xfrm>
            <a:off x="10479024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6" name="run-cell"/>
          <p:cNvSpPr/>
          <p:nvPr/>
        </p:nvSpPr>
        <p:spPr>
          <a:xfrm>
            <a:off x="10762488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7" name="run-cell"/>
          <p:cNvSpPr/>
          <p:nvPr/>
        </p:nvSpPr>
        <p:spPr>
          <a:xfrm>
            <a:off x="11045952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8" name="run-cell"/>
          <p:cNvSpPr/>
          <p:nvPr/>
        </p:nvSpPr>
        <p:spPr>
          <a:xfrm>
            <a:off x="11329416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  <p:sp>
        <p:nvSpPr>
          <p:cNvPr id="69" name="run-cell"/>
          <p:cNvSpPr/>
          <p:nvPr/>
        </p:nvSpPr>
        <p:spPr>
          <a:xfrm>
            <a:off x="11612880" y="6108192"/>
            <a:ext cx="219456" cy="219456"/>
          </a:xfrm>
          <a:prstGeom prst="roundRect">
            <a:avLst>
              <a:gd name="adj" fmla="val 16667"/>
            </a:avLst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TestFlow">
  <a:themeElements>
    <a:clrScheme name="TestFlow">
      <a:dk1>
        <a:srgbClr val="17233B"/>
      </a:dk1>
      <a:lt1>
        <a:srgbClr val="FFFFFF"/>
      </a:lt1>
      <a:dk2>
        <a:srgbClr val="2F3E9E"/>
      </a:dk2>
      <a:lt2>
        <a:srgbClr val="F3F5F8"/>
      </a:lt2>
      <a:accent1>
        <a:srgbClr val="2F3E9E"/>
      </a:accent1>
      <a:accent2>
        <a:srgbClr val="2E8B6E"/>
      </a:accent2>
      <a:accent3>
        <a:srgbClr val="D2453F"/>
      </a:accent3>
      <a:accent4>
        <a:srgbClr val="D9A13B"/>
      </a:accent4>
      <a:accent5>
        <a:srgbClr val="5A667D"/>
      </a:accent5>
      <a:accent6>
        <a:srgbClr val="D9DEE7"/>
      </a:accent6>
      <a:hlink>
        <a:srgbClr val="2F3E9E"/>
      </a:hlink>
      <a:folHlink>
        <a:srgbClr val="5A667D"/>
      </a:folHlink>
    </a:clrScheme>
    <a:fontScheme name="TestFlow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TestFlow – SaaS Landing Page and Prototype</dc:title>
  <dc:subject>PptxGenJS Presentation</dc:subject>
  <dc:creator>Umer Hassan</dc:creator>
  <cp:lastModifiedBy>Umer Hassan</cp:lastModifiedBy>
  <cp:revision>1</cp:revision>
  <dcterms:created xsi:type="dcterms:W3CDTF">2026-10-15T07:55:11Z</dcterms:created>
  <dcterms:modified xsi:type="dcterms:W3CDTF">2026-10-15T07:55:11Z</dcterms:modified>
</cp:coreProperties>
</file>